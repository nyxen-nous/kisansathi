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30352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1" i="0">
                <a:solidFill>
                  <a:srgbClr val="2F704E"/>
                </a:solidFill>
                <a:latin typeface="Aptos"/>
              </a:defRPr>
            </a:pPr>
            <a:r>
              <a:t>AZINHACK '26  •  OPEN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603504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600" b="1" i="0">
                <a:solidFill>
                  <a:srgbClr val="1C2D22"/>
                </a:solidFill>
                <a:latin typeface="Aptos Display"/>
              </a:defRPr>
            </a:pPr>
            <a:r>
              <a:t>KisanSaathi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221992"/>
            <a:ext cx="58064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600" b="1" i="0">
                <a:solidFill>
                  <a:srgbClr val="2F704E"/>
                </a:solidFill>
                <a:latin typeface="Aptos Display"/>
              </a:defRPr>
            </a:pPr>
            <a:r>
              <a:t>किसान साथी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3063240"/>
            <a:ext cx="539496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300" b="1" i="0">
                <a:solidFill>
                  <a:srgbClr val="1C2D22"/>
                </a:solidFill>
                <a:latin typeface="Aptos Display"/>
              </a:defRPr>
            </a:pPr>
            <a:r>
              <a:t>Farmer assistance, with official sources in reach.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4224528"/>
            <a:ext cx="534924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 i="0">
                <a:solidFill>
                  <a:srgbClr val="66756B"/>
                </a:solidFill>
                <a:latin typeface="Aptos"/>
              </a:defRPr>
            </a:pPr>
            <a:r>
              <a:t>A bilingual agriculture prototype combining practical farm tools with TinyFish-powered discovery of government support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5486400"/>
            <a:ext cx="1536192" cy="384048"/>
          </a:xfrm>
          <a:prstGeom prst="roundRect">
            <a:avLst/>
          </a:prstGeom>
          <a:solidFill>
            <a:srgbClr val="E8F0E5"/>
          </a:solidFill>
          <a:ln w="10160">
            <a:solidFill>
              <a:srgbClr val="E8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559552"/>
            <a:ext cx="138988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1" i="0">
                <a:solidFill>
                  <a:srgbClr val="24573F"/>
                </a:solidFill>
                <a:latin typeface="Aptos"/>
              </a:defRPr>
            </a:pPr>
            <a:r>
              <a:t>Hindi + English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22576" y="5486400"/>
            <a:ext cx="2148840" cy="384048"/>
          </a:xfrm>
          <a:prstGeom prst="roundRect">
            <a:avLst/>
          </a:prstGeom>
          <a:solidFill>
            <a:srgbClr val="E8F0E5"/>
          </a:solidFill>
          <a:ln w="10160">
            <a:solidFill>
              <a:srgbClr val="E8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5728" y="5559552"/>
            <a:ext cx="200253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1" i="0">
                <a:solidFill>
                  <a:srgbClr val="24573F"/>
                </a:solidFill>
                <a:latin typeface="Aptos"/>
              </a:defRPr>
            </a:pPr>
            <a:r>
              <a:t>TinyFish Search + Fetch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81144" y="5486400"/>
            <a:ext cx="1783080" cy="384048"/>
          </a:xfrm>
          <a:prstGeom prst="roundRect">
            <a:avLst/>
          </a:prstGeom>
          <a:solidFill>
            <a:srgbClr val="E8F0E5"/>
          </a:solidFill>
          <a:ln w="10160">
            <a:solidFill>
              <a:srgbClr val="E8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5559552"/>
            <a:ext cx="163677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1" i="0">
                <a:solidFill>
                  <a:srgbClr val="24573F"/>
                </a:solidFill>
                <a:latin typeface="Aptos"/>
              </a:defRPr>
            </a:pPr>
            <a:r>
              <a:t>Source-linked results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9144"/>
            <a:ext cx="5239512" cy="6839712"/>
          </a:xfrm>
          <a:prstGeom prst="rect">
            <a:avLst/>
          </a:prstGeom>
          <a:solidFill>
            <a:srgbClr val="24573F"/>
          </a:solidFill>
          <a:ln w="10160">
            <a:solidFill>
              <a:srgbClr val="24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52360" y="731520"/>
            <a:ext cx="4160520" cy="5321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100584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900" b="1" i="0">
                <a:solidFill>
                  <a:srgbClr val="1C2D22"/>
                </a:solidFill>
                <a:latin typeface="Aptos Display"/>
              </a:defRPr>
            </a:pPr>
            <a:r>
              <a:t>Farmer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1344168"/>
            <a:ext cx="33832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0" i="0">
                <a:solidFill>
                  <a:srgbClr val="66756B"/>
                </a:solidFill>
                <a:latin typeface="Aptos"/>
              </a:defRPr>
            </a:pPr>
            <a:r>
              <a:t>Find relevant official information for your farm.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1901952"/>
            <a:ext cx="3291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 i="0">
                <a:solidFill>
                  <a:srgbClr val="66756B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54112" y="2139696"/>
            <a:ext cx="3547872" cy="420624"/>
          </a:xfrm>
          <a:prstGeom prst="roundRect">
            <a:avLst/>
          </a:prstGeom>
          <a:solidFill>
            <a:srgbClr val="F6F7F1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18704" y="2231136"/>
            <a:ext cx="3154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1" i="0">
                <a:solidFill>
                  <a:srgbClr val="1C2D22"/>
                </a:solidFill>
                <a:latin typeface="Aptos"/>
              </a:defRPr>
            </a:pPr>
            <a:r>
              <a:t>Punjab  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2" y="2724912"/>
            <a:ext cx="3291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 i="0">
                <a:solidFill>
                  <a:srgbClr val="66756B"/>
                </a:solidFill>
                <a:latin typeface="Aptos"/>
              </a:defRPr>
            </a:pPr>
            <a:r>
              <a:t>SUPPORT CATEGORY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54112" y="2962656"/>
            <a:ext cx="3547872" cy="420624"/>
          </a:xfrm>
          <a:prstGeom prst="roundRect">
            <a:avLst/>
          </a:prstGeom>
          <a:solidFill>
            <a:srgbClr val="F6F7F1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18704" y="3054096"/>
            <a:ext cx="3154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1" i="0">
                <a:solidFill>
                  <a:srgbClr val="1C2D22"/>
                </a:solidFill>
                <a:latin typeface="Aptos"/>
              </a:defRPr>
            </a:pPr>
            <a:r>
              <a:t>Solar pumps  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54112" y="3611880"/>
            <a:ext cx="3547872" cy="420624"/>
          </a:xfrm>
          <a:prstGeom prst="roundRect">
            <a:avLst/>
          </a:prstGeom>
          <a:solidFill>
            <a:srgbClr val="24573F"/>
          </a:solidFill>
          <a:ln w="10160">
            <a:solidFill>
              <a:srgbClr val="24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82127" y="3712463"/>
            <a:ext cx="32735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Find official sources  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54112" y="4261104"/>
            <a:ext cx="3547872" cy="1335024"/>
          </a:xfrm>
          <a:prstGeom prst="roundRect">
            <a:avLst/>
          </a:prstGeom>
          <a:solidFill>
            <a:srgbClr val="E8F0E5"/>
          </a:solidFill>
          <a:ln w="10160">
            <a:solidFill>
              <a:srgbClr val="E8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36992" y="4443984"/>
            <a:ext cx="292608" cy="292608"/>
          </a:xfrm>
          <a:prstGeom prst="ellipse">
            <a:avLst/>
          </a:prstGeom>
          <a:solidFill>
            <a:srgbClr val="E9BF55"/>
          </a:solidFill>
          <a:ln>
            <a:solidFill>
              <a:srgbClr val="E9B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000">
                <a:solidFill>
                  <a:srgbClr val="24573F"/>
                </a:solidFill>
                <a:latin typeface="Aptos Display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4443984"/>
            <a:ext cx="270662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 i="0">
                <a:solidFill>
                  <a:srgbClr val="24573F"/>
                </a:solidFill>
                <a:latin typeface="Aptos"/>
              </a:defRPr>
            </a:pPr>
            <a:r>
              <a:t>TinyFish Search + Fetch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4846320"/>
            <a:ext cx="30175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 i="0">
                <a:solidFill>
                  <a:srgbClr val="1C2D22"/>
                </a:solidFill>
                <a:latin typeface="Aptos"/>
              </a:defRPr>
            </a:pPr>
            <a:r>
              <a:t>Discover pages • read content • keep the source link visible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5742432"/>
            <a:ext cx="3474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0" i="1">
                <a:solidFill>
                  <a:srgbClr val="66756B"/>
                </a:solidFill>
                <a:latin typeface="Aptos"/>
              </a:defRPr>
            </a:pPr>
            <a:r>
              <a:t>Illustrative UI layout — demo with live 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4927" y="630936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0" i="1">
                <a:solidFill>
                  <a:srgbClr val="E6F0E5"/>
                </a:solidFill>
                <a:latin typeface="Aptos"/>
              </a:defRPr>
            </a:pPr>
            <a:r>
              <a:t>Designed to reduce search friction, not replace the authority.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256032"/>
            <a:ext cx="246888" cy="246888"/>
          </a:xfrm>
          <a:prstGeom prst="ellipse">
            <a:avLst/>
          </a:prstGeom>
          <a:solidFill>
            <a:srgbClr val="24573F"/>
          </a:solidFill>
          <a:ln>
            <a:solidFill>
              <a:srgbClr val="24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24688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 i="0">
                <a:solidFill>
                  <a:srgbClr val="24573F"/>
                </a:solidFill>
                <a:latin typeface="Aptos"/>
              </a:defRPr>
            </a:pPr>
            <a:r>
              <a:t>KisanSaathi  •  किसान साथी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 i="0">
                <a:solidFill>
                  <a:srgbClr val="2F704E"/>
                </a:solidFill>
                <a:latin typeface="Aptos"/>
              </a:defRPr>
            </a:pPr>
            <a:r>
              <a:t>01 /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700" b="1" i="0">
                <a:solidFill>
                  <a:srgbClr val="1C2D22"/>
                </a:solidFill>
                <a:latin typeface="Aptos Display"/>
              </a:defRPr>
            </a:pPr>
            <a:r>
              <a:t>Farmers need usable support information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D8E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28816"/>
            <a:ext cx="4572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 i="0">
                <a:solidFill>
                  <a:srgbClr val="66756B"/>
                </a:solidFill>
                <a:latin typeface="Aptos"/>
              </a:defRPr>
            </a:pPr>
            <a:r>
              <a:t>AZINHACK '26  •  ONLINE 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66756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09928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0" i="0">
                <a:solidFill>
                  <a:srgbClr val="66756B"/>
                </a:solidFill>
                <a:latin typeface="Aptos"/>
              </a:defRPr>
            </a:pPr>
            <a:r>
              <a:t>A farmer may know the need without knowing the exact scheme name, department or page.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395728"/>
            <a:ext cx="3493008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395728"/>
            <a:ext cx="64008" cy="2240280"/>
          </a:xfrm>
          <a:prstGeom prst="rect">
            <a:avLst/>
          </a:prstGeom>
          <a:solidFill>
            <a:srgbClr val="24573F"/>
          </a:solidFill>
          <a:ln w="10160">
            <a:solidFill>
              <a:srgbClr val="24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60320"/>
            <a:ext cx="31089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 i="0">
                <a:solidFill>
                  <a:srgbClr val="24573F"/>
                </a:solidFill>
                <a:latin typeface="Aptos"/>
              </a:defRPr>
            </a:pPr>
            <a:r>
              <a:t>01 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52928"/>
            <a:ext cx="309067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 i="0">
                <a:solidFill>
                  <a:srgbClr val="1C2D22"/>
                </a:solidFill>
                <a:latin typeface="Aptos Display"/>
              </a:defRPr>
            </a:pPr>
            <a:r>
              <a:t>Where do I start?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3090672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 i="0">
                <a:solidFill>
                  <a:srgbClr val="66756B"/>
                </a:solidFill>
                <a:latin typeface="Aptos"/>
              </a:defRPr>
            </a:pPr>
            <a:r>
              <a:t>Support information can be spread across central and state department websites.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2395728"/>
            <a:ext cx="3493008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2395728"/>
            <a:ext cx="64008" cy="2240280"/>
          </a:xfrm>
          <a:prstGeom prst="rect">
            <a:avLst/>
          </a:prstGeom>
          <a:solidFill>
            <a:srgbClr val="E9BF55"/>
          </a:solidFill>
          <a:ln w="10160">
            <a:solidFill>
              <a:srgbClr val="E9B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2560320"/>
            <a:ext cx="31089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 i="0">
                <a:solidFill>
                  <a:srgbClr val="E9BF55"/>
                </a:solidFill>
                <a:latin typeface="Aptos"/>
              </a:defRPr>
            </a:pPr>
            <a:r>
              <a:t>02 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852928"/>
            <a:ext cx="309067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 i="0">
                <a:solidFill>
                  <a:srgbClr val="1C2D22"/>
                </a:solidFill>
                <a:latin typeface="Aptos Display"/>
              </a:defRPr>
            </a:pPr>
            <a:r>
              <a:t>What does this page mean?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3291840"/>
            <a:ext cx="3090672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 i="0">
                <a:solidFill>
                  <a:srgbClr val="66756B"/>
                </a:solidFill>
                <a:latin typeface="Aptos"/>
              </a:defRPr>
            </a:pPr>
            <a:r>
              <a:t>Eligibility, documents, application steps and time periods may sit in different sections.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2395728"/>
            <a:ext cx="3493008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395728"/>
            <a:ext cx="64008" cy="2240280"/>
          </a:xfrm>
          <a:prstGeom prst="rect">
            <a:avLst/>
          </a:prstGeom>
          <a:solidFill>
            <a:srgbClr val="B8653B"/>
          </a:solidFill>
          <a:ln w="10160">
            <a:solidFill>
              <a:srgbClr val="B86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4" y="2560320"/>
            <a:ext cx="31089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 i="0">
                <a:solidFill>
                  <a:srgbClr val="B8653B"/>
                </a:solidFill>
                <a:latin typeface="Aptos"/>
              </a:defRPr>
            </a:pPr>
            <a:r>
              <a:t>03  TRUST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2852928"/>
            <a:ext cx="309067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 i="0">
                <a:solidFill>
                  <a:srgbClr val="1C2D22"/>
                </a:solidFill>
                <a:latin typeface="Aptos Display"/>
              </a:defRPr>
            </a:pPr>
            <a:r>
              <a:t>Is this current and relevant?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3291840"/>
            <a:ext cx="3090672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 i="0">
                <a:solidFill>
                  <a:srgbClr val="66756B"/>
                </a:solidFill>
                <a:latin typeface="Aptos"/>
              </a:defRPr>
            </a:pPr>
            <a:r>
              <a:t>Old or incomplete content can be mistaken for an active benefit if source and uncertainty are hidden.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5010912"/>
            <a:ext cx="10954512" cy="786384"/>
          </a:xfrm>
          <a:prstGeom prst="roundRect">
            <a:avLst/>
          </a:prstGeom>
          <a:solidFill>
            <a:srgbClr val="E8F0E5"/>
          </a:solidFill>
          <a:ln w="10160">
            <a:solidFill>
              <a:srgbClr val="E8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221224"/>
            <a:ext cx="104241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 i="0">
                <a:solidFill>
                  <a:srgbClr val="24573F"/>
                </a:solidFill>
                <a:latin typeface="Aptos"/>
              </a:defRPr>
            </a:pPr>
            <a:r>
              <a:t>Design principle: make the official source easy to inspect, and make uncertainty visible.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256032"/>
            <a:ext cx="246888" cy="246888"/>
          </a:xfrm>
          <a:prstGeom prst="ellipse">
            <a:avLst/>
          </a:prstGeom>
          <a:solidFill>
            <a:srgbClr val="24573F"/>
          </a:solidFill>
          <a:ln>
            <a:solidFill>
              <a:srgbClr val="24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24688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 i="0">
                <a:solidFill>
                  <a:srgbClr val="24573F"/>
                </a:solidFill>
                <a:latin typeface="Aptos"/>
              </a:defRPr>
            </a:pPr>
            <a:r>
              <a:t>KisanSaathi  •  किसान साथी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 i="0">
                <a:solidFill>
                  <a:srgbClr val="2F704E"/>
                </a:solidFill>
                <a:latin typeface="Aptos"/>
              </a:defRPr>
            </a:pPr>
            <a:r>
              <a:t>02 /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700" b="1" i="0">
                <a:solidFill>
                  <a:srgbClr val="1C2D22"/>
                </a:solidFill>
                <a:latin typeface="Aptos Display"/>
              </a:defRPr>
            </a:pPr>
            <a:r>
              <a:t>One farmer-facing workspace, with a clear TinyFish use case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D8E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28816"/>
            <a:ext cx="4572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 i="0">
                <a:solidFill>
                  <a:srgbClr val="66756B"/>
                </a:solidFill>
                <a:latin typeface="Aptos"/>
              </a:defRPr>
            </a:pPr>
            <a:r>
              <a:t>AZINHACK '26  •  ONLINE 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66756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Oval 8"/>
          <p:cNvSpPr/>
          <p:nvPr/>
        </p:nvSpPr>
        <p:spPr>
          <a:xfrm>
            <a:off x="4956048" y="2148840"/>
            <a:ext cx="2148840" cy="2148840"/>
          </a:xfrm>
          <a:prstGeom prst="ellipse">
            <a:avLst/>
          </a:prstGeom>
          <a:solidFill>
            <a:srgbClr val="24573F"/>
          </a:solidFill>
          <a:ln>
            <a:solidFill>
              <a:srgbClr val="24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700">
                <a:solidFill>
                  <a:srgbClr val="FFFFFF"/>
                </a:solidFill>
                <a:latin typeface="Aptos Display"/>
              </a:defRPr>
            </a:pPr>
            <a:r>
              <a:t>Kisan</a:t>
            </a:r>
            <a:br/>
            <a:r>
              <a:t>Saathi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4407408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1" i="0">
                <a:solidFill>
                  <a:srgbClr val="24573F"/>
                </a:solidFill>
                <a:latin typeface="Aptos"/>
              </a:defRPr>
            </a:pPr>
            <a:r>
              <a:t>Hindi + English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01952"/>
            <a:ext cx="3154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901952"/>
            <a:ext cx="64008" cy="1353312"/>
          </a:xfrm>
          <a:prstGeom prst="rect">
            <a:avLst/>
          </a:prstGeom>
          <a:solidFill>
            <a:srgbClr val="24573F"/>
          </a:solidFill>
          <a:ln w="10160">
            <a:solidFill>
              <a:srgbClr val="24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066544"/>
            <a:ext cx="27706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 i="0">
                <a:solidFill>
                  <a:srgbClr val="24573F"/>
                </a:solidFill>
                <a:latin typeface="Aptos"/>
              </a:defRPr>
            </a:pPr>
            <a:r>
              <a:t>FARM 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359152"/>
            <a:ext cx="275234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 i="0">
                <a:solidFill>
                  <a:srgbClr val="1C2D22"/>
                </a:solidFill>
                <a:latin typeface="Aptos Display"/>
              </a:defRPr>
            </a:pPr>
            <a:r>
              <a:t>Crop Doctor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98064"/>
            <a:ext cx="2752344" cy="3474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 i="0">
                <a:solidFill>
                  <a:srgbClr val="66756B"/>
                </a:solidFill>
                <a:latin typeface="Aptos"/>
              </a:defRPr>
            </a:pPr>
            <a:r>
              <a:t>Image-level screening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730752"/>
            <a:ext cx="3154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730752"/>
            <a:ext cx="64008" cy="1353312"/>
          </a:xfrm>
          <a:prstGeom prst="rect">
            <a:avLst/>
          </a:prstGeom>
          <a:solidFill>
            <a:srgbClr val="E9BF55"/>
          </a:solidFill>
          <a:ln w="10160">
            <a:solidFill>
              <a:srgbClr val="E9B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895344"/>
            <a:ext cx="27706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 i="0">
                <a:solidFill>
                  <a:srgbClr val="E9BF55"/>
                </a:solidFill>
                <a:latin typeface="Aptos"/>
              </a:defRPr>
            </a:pPr>
            <a:r>
              <a:t>PRICE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187952"/>
            <a:ext cx="275234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 i="0">
                <a:solidFill>
                  <a:srgbClr val="1C2D22"/>
                </a:solidFill>
                <a:latin typeface="Aptos Display"/>
              </a:defRPr>
            </a:pPr>
            <a:r>
              <a:t>Mandi Bhav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626864"/>
            <a:ext cx="2752344" cy="3474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 i="0">
                <a:solidFill>
                  <a:srgbClr val="66756B"/>
                </a:solidFill>
                <a:latin typeface="Aptos"/>
              </a:defRPr>
            </a:pPr>
            <a:r>
              <a:t>Dated price observations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1901952"/>
            <a:ext cx="3154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66760" y="1901952"/>
            <a:ext cx="64008" cy="1353312"/>
          </a:xfrm>
          <a:prstGeom prst="rect">
            <a:avLst/>
          </a:prstGeom>
          <a:solidFill>
            <a:srgbClr val="2F704E"/>
          </a:solidFill>
          <a:ln w="10160">
            <a:solidFill>
              <a:srgbClr val="2F7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7928" y="2066544"/>
            <a:ext cx="27706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 i="0">
                <a:solidFill>
                  <a:srgbClr val="2F704E"/>
                </a:solidFill>
                <a:latin typeface="Aptos"/>
              </a:defRPr>
            </a:pPr>
            <a:r>
              <a:t>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7928" y="2359152"/>
            <a:ext cx="275234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 i="0">
                <a:solidFill>
                  <a:srgbClr val="1C2D22"/>
                </a:solidFill>
                <a:latin typeface="Aptos Display"/>
              </a:defRPr>
            </a:pPr>
            <a:r>
              <a:t>Crop + irrigation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7928" y="2798064"/>
            <a:ext cx="2752344" cy="3474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 i="0">
                <a:solidFill>
                  <a:srgbClr val="66756B"/>
                </a:solidFill>
                <a:latin typeface="Aptos"/>
              </a:defRPr>
            </a:pPr>
            <a:r>
              <a:t>Evidence-led estimates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3730752"/>
            <a:ext cx="3154680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66760" y="3730752"/>
            <a:ext cx="64008" cy="1353312"/>
          </a:xfrm>
          <a:prstGeom prst="rect">
            <a:avLst/>
          </a:prstGeom>
          <a:solidFill>
            <a:srgbClr val="E9BF55"/>
          </a:solidFill>
          <a:ln w="10160">
            <a:solidFill>
              <a:srgbClr val="E9B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67928" y="3895344"/>
            <a:ext cx="277063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 i="0">
                <a:solidFill>
                  <a:srgbClr val="E9BF55"/>
                </a:solidFill>
                <a:latin typeface="Aptos"/>
              </a:defRPr>
            </a:pPr>
            <a:r>
              <a:t>MARKET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8" y="4187952"/>
            <a:ext cx="275234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 i="0">
                <a:solidFill>
                  <a:srgbClr val="1C2D22"/>
                </a:solidFill>
                <a:latin typeface="Aptos Display"/>
              </a:defRPr>
            </a:pPr>
            <a:r>
              <a:t>Direct Market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7928" y="4626864"/>
            <a:ext cx="2752344" cy="3474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 i="0">
                <a:solidFill>
                  <a:srgbClr val="66756B"/>
                </a:solidFill>
                <a:latin typeface="Aptos"/>
              </a:defRPr>
            </a:pPr>
            <a:r>
              <a:t>Listings and buyer interest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813048" y="2487168"/>
            <a:ext cx="1143000" cy="256032"/>
          </a:xfrm>
          <a:prstGeom prst="line">
            <a:avLst/>
          </a:prstGeom>
          <a:ln w="22860">
            <a:solidFill>
              <a:srgbClr val="2F7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813048" y="3840480"/>
            <a:ext cx="1261872" cy="411480"/>
          </a:xfrm>
          <a:prstGeom prst="line">
            <a:avLst/>
          </a:prstGeom>
          <a:ln w="22860">
            <a:solidFill>
              <a:srgbClr val="2F7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104888" y="2487168"/>
            <a:ext cx="1261872" cy="256032"/>
          </a:xfrm>
          <a:prstGeom prst="line">
            <a:avLst/>
          </a:prstGeom>
          <a:ln w="22860">
            <a:solidFill>
              <a:srgbClr val="2F7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104888" y="3840480"/>
            <a:ext cx="1261872" cy="411480"/>
          </a:xfrm>
          <a:prstGeom prst="line">
            <a:avLst/>
          </a:prstGeom>
          <a:ln w="22860">
            <a:solidFill>
              <a:srgbClr val="2F7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023360" y="5102352"/>
            <a:ext cx="4160520" cy="658368"/>
          </a:xfrm>
          <a:prstGeom prst="roundRect">
            <a:avLst/>
          </a:prstGeom>
          <a:solidFill>
            <a:srgbClr val="FBF1D8"/>
          </a:solidFill>
          <a:ln w="10160">
            <a:solidFill>
              <a:srgbClr val="FBF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5276088"/>
            <a:ext cx="3794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 i="0">
                <a:solidFill>
                  <a:srgbClr val="1C2D22"/>
                </a:solidFill>
                <a:latin typeface="Aptos"/>
              </a:defRPr>
            </a:pPr>
            <a:r>
              <a:t>AZINHACK focus: official support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256032"/>
            <a:ext cx="246888" cy="246888"/>
          </a:xfrm>
          <a:prstGeom prst="ellipse">
            <a:avLst/>
          </a:prstGeom>
          <a:solidFill>
            <a:srgbClr val="24573F"/>
          </a:solidFill>
          <a:ln>
            <a:solidFill>
              <a:srgbClr val="24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24688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 i="0">
                <a:solidFill>
                  <a:srgbClr val="24573F"/>
                </a:solidFill>
                <a:latin typeface="Aptos"/>
              </a:defRPr>
            </a:pPr>
            <a:r>
              <a:t>KisanSaathi  •  किसान साथी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 i="0">
                <a:solidFill>
                  <a:srgbClr val="2F704E"/>
                </a:solidFill>
                <a:latin typeface="Aptos"/>
              </a:defRPr>
            </a:pPr>
            <a:r>
              <a:t>03 / MANDATORY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700" b="1" i="0">
                <a:solidFill>
                  <a:srgbClr val="1C2D22"/>
                </a:solidFill>
                <a:latin typeface="Aptos Display"/>
              </a:defRPr>
            </a:pPr>
            <a:r>
              <a:t>TinyFish is part of the workflow—not just the stack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D8E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28816"/>
            <a:ext cx="4572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 i="0">
                <a:solidFill>
                  <a:srgbClr val="66756B"/>
                </a:solidFill>
                <a:latin typeface="Aptos"/>
              </a:defRPr>
            </a:pPr>
            <a:r>
              <a:t>AZINHACK '26  •  ONLINE 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66756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00784"/>
            <a:ext cx="10515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 i="0">
                <a:solidFill>
                  <a:srgbClr val="66756B"/>
                </a:solidFill>
                <a:latin typeface="Aptos"/>
              </a:defRPr>
            </a:pPr>
            <a:r>
              <a:t>A focused Search → Fetch pipeline with backend validation and source-linked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331720"/>
            <a:ext cx="224028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6384" y="2514600"/>
            <a:ext cx="365760" cy="365760"/>
          </a:xfrm>
          <a:prstGeom prst="ellipse">
            <a:avLst/>
          </a:prstGeom>
          <a:solidFill>
            <a:srgbClr val="24573F"/>
          </a:solidFill>
          <a:ln>
            <a:solidFill>
              <a:srgbClr val="24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200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487168"/>
            <a:ext cx="144475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 i="0">
                <a:solidFill>
                  <a:srgbClr val="1C2D22"/>
                </a:solidFill>
                <a:latin typeface="Aptos"/>
              </a:defRPr>
            </a:pPr>
            <a:r>
              <a:t>Farmer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035808"/>
            <a:ext cx="1901952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 i="0">
                <a:solidFill>
                  <a:srgbClr val="66756B"/>
                </a:solidFill>
                <a:latin typeface="Aptos"/>
              </a:defRPr>
            </a:pPr>
            <a:r>
              <a:t>State + support type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89504" y="3063240"/>
            <a:ext cx="566928" cy="0"/>
          </a:xfrm>
          <a:prstGeom prst="line">
            <a:avLst/>
          </a:prstGeom>
          <a:ln w="25400">
            <a:solidFill>
              <a:srgbClr val="2F7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29584" y="2331720"/>
            <a:ext cx="224028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94176" y="2514600"/>
            <a:ext cx="365760" cy="365760"/>
          </a:xfrm>
          <a:prstGeom prst="ellipse">
            <a:avLst/>
          </a:prstGeom>
          <a:solidFill>
            <a:srgbClr val="24573F"/>
          </a:solidFill>
          <a:ln>
            <a:solidFill>
              <a:srgbClr val="24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200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9663" y="2487168"/>
            <a:ext cx="144475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 i="0">
                <a:solidFill>
                  <a:srgbClr val="1C2D22"/>
                </a:solidFill>
                <a:latin typeface="Aptos"/>
              </a:defRPr>
            </a:pPr>
            <a:r>
              <a:t>TinyFish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3035808"/>
            <a:ext cx="1901952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 i="0">
                <a:solidFill>
                  <a:srgbClr val="66756B"/>
                </a:solidFill>
                <a:latin typeface="Aptos"/>
              </a:defRPr>
            </a:pPr>
            <a:r>
              <a:t>Discover candidate pages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97296" y="3063240"/>
            <a:ext cx="566928" cy="0"/>
          </a:xfrm>
          <a:prstGeom prst="line">
            <a:avLst/>
          </a:prstGeom>
          <a:ln w="25400">
            <a:solidFill>
              <a:srgbClr val="2F7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37376" y="2331720"/>
            <a:ext cx="224028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01968" y="2514600"/>
            <a:ext cx="365760" cy="365760"/>
          </a:xfrm>
          <a:prstGeom prst="ellipse">
            <a:avLst/>
          </a:prstGeom>
          <a:solidFill>
            <a:srgbClr val="E9BF55"/>
          </a:solidFill>
          <a:ln>
            <a:solidFill>
              <a:srgbClr val="E9B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200">
                <a:solidFill>
                  <a:srgbClr val="1C2D22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7456" y="2487168"/>
            <a:ext cx="144475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 i="0">
                <a:solidFill>
                  <a:srgbClr val="1C2D22"/>
                </a:solidFill>
                <a:latin typeface="Aptos"/>
              </a:defRPr>
            </a:pPr>
            <a:r>
              <a:t>Backend 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035808"/>
            <a:ext cx="1901952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 i="0">
                <a:solidFill>
                  <a:srgbClr val="66756B"/>
                </a:solidFill>
                <a:latin typeface="Aptos"/>
              </a:defRPr>
            </a:pPr>
            <a:r>
              <a:t>HTTPS .gov.in / .nic.in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05088" y="3063240"/>
            <a:ext cx="566928" cy="0"/>
          </a:xfrm>
          <a:prstGeom prst="line">
            <a:avLst/>
          </a:prstGeom>
          <a:ln w="25400">
            <a:solidFill>
              <a:srgbClr val="2F7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45168" y="2331720"/>
            <a:ext cx="224028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09760" y="2514600"/>
            <a:ext cx="365760" cy="365760"/>
          </a:xfrm>
          <a:prstGeom prst="ellipse">
            <a:avLst/>
          </a:prstGeom>
          <a:solidFill>
            <a:srgbClr val="24573F"/>
          </a:solidFill>
          <a:ln>
            <a:solidFill>
              <a:srgbClr val="24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200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5248" y="2487168"/>
            <a:ext cx="144475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 i="0">
                <a:solidFill>
                  <a:srgbClr val="1C2D22"/>
                </a:solidFill>
                <a:latin typeface="Aptos"/>
              </a:defRPr>
            </a:pPr>
            <a:r>
              <a:t>TinyFish Fetch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035808"/>
            <a:ext cx="1901952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 i="0">
                <a:solidFill>
                  <a:srgbClr val="66756B"/>
                </a:solidFill>
                <a:latin typeface="Aptos"/>
              </a:defRPr>
            </a:pPr>
            <a:r>
              <a:t>Read selected pages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4206240"/>
            <a:ext cx="6903720" cy="1234440"/>
          </a:xfrm>
          <a:prstGeom prst="roundRect">
            <a:avLst/>
          </a:prstGeom>
          <a:solidFill>
            <a:srgbClr val="E8F0E5"/>
          </a:solidFill>
          <a:ln w="10160">
            <a:solidFill>
              <a:srgbClr val="E8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4425696"/>
            <a:ext cx="6355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1" i="0">
                <a:solidFill>
                  <a:srgbClr val="24573F"/>
                </a:solidFill>
                <a:latin typeface="Aptos"/>
              </a:defRPr>
            </a:pPr>
            <a:r>
              <a:t>Farmer-facing 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791456"/>
            <a:ext cx="626364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 i="0">
                <a:solidFill>
                  <a:srgbClr val="1C2D22"/>
                </a:solidFill>
                <a:latin typeface="Aptos"/>
              </a:defRPr>
            </a:pPr>
            <a:r>
              <a:t>Source title + URL • retrieved time • extracted sections • partial/unavailable warnings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18120" y="4206240"/>
            <a:ext cx="3977639" cy="1234440"/>
          </a:xfrm>
          <a:prstGeom prst="roundRect">
            <a:avLst/>
          </a:prstGeom>
          <a:solidFill>
            <a:srgbClr val="FBF1D8"/>
          </a:solidFill>
          <a:ln w="10160">
            <a:solidFill>
              <a:srgbClr val="FBF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65008" y="4416552"/>
            <a:ext cx="3474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 i="0">
                <a:solidFill>
                  <a:srgbClr val="1C2D22"/>
                </a:solidFill>
                <a:latin typeface="Aptos"/>
              </a:defRPr>
            </a:pPr>
            <a:r>
              <a:t>Trust boundary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5008" y="4745736"/>
            <a:ext cx="34290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 i="0">
                <a:solidFill>
                  <a:srgbClr val="1C2D22"/>
                </a:solidFill>
                <a:latin typeface="Aptos"/>
              </a:defRPr>
            </a:pPr>
            <a:r>
              <a:t>Research lead only. Eligibility and current application status must be checked with the authority.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779008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1" i="0">
                <a:solidFill>
                  <a:srgbClr val="66756B"/>
                </a:solidFill>
                <a:latin typeface="Aptos"/>
              </a:defRPr>
            </a:pPr>
            <a:r>
              <a:t>Code path: tinyfish.py  →  schemes.py  →  /api/schemes/search  →  schemes.html / schemes.js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256032"/>
            <a:ext cx="246888" cy="246888"/>
          </a:xfrm>
          <a:prstGeom prst="ellipse">
            <a:avLst/>
          </a:prstGeom>
          <a:solidFill>
            <a:srgbClr val="24573F"/>
          </a:solidFill>
          <a:ln>
            <a:solidFill>
              <a:srgbClr val="24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24688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 i="0">
                <a:solidFill>
                  <a:srgbClr val="24573F"/>
                </a:solidFill>
                <a:latin typeface="Aptos"/>
              </a:defRPr>
            </a:pPr>
            <a:r>
              <a:t>KisanSaathi  •  किसान साथी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 i="0">
                <a:solidFill>
                  <a:srgbClr val="2F704E"/>
                </a:solidFill>
                <a:latin typeface="Aptos"/>
              </a:defRPr>
            </a:pPr>
            <a:r>
              <a:t>04 /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700" b="1" i="0">
                <a:solidFill>
                  <a:srgbClr val="1C2D22"/>
                </a:solidFill>
                <a:latin typeface="Aptos Display"/>
              </a:defRPr>
            </a:pPr>
            <a:r>
              <a:t>The judge should be able to follow this in under a minute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D8E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28816"/>
            <a:ext cx="4572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 i="0">
                <a:solidFill>
                  <a:srgbClr val="66756B"/>
                </a:solidFill>
                <a:latin typeface="Aptos"/>
              </a:defRPr>
            </a:pPr>
            <a:r>
              <a:t>AZINHACK '26  •  ONLINE 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66756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1828800"/>
            <a:ext cx="402336" cy="402336"/>
          </a:xfrm>
          <a:prstGeom prst="ellipse">
            <a:avLst/>
          </a:prstGeom>
          <a:solidFill>
            <a:srgbClr val="24573F"/>
          </a:solidFill>
          <a:ln>
            <a:solidFill>
              <a:srgbClr val="24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200">
                <a:solidFill>
                  <a:srgbClr val="FFFF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810512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 i="0">
                <a:solidFill>
                  <a:srgbClr val="1C2D22"/>
                </a:solidFill>
                <a:latin typeface="Aptos"/>
              </a:defRPr>
            </a:pPr>
            <a:r>
              <a:t>Choose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1810512"/>
            <a:ext cx="30632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 i="0">
                <a:solidFill>
                  <a:srgbClr val="66756B"/>
                </a:solidFill>
                <a:latin typeface="Aptos"/>
              </a:defRPr>
            </a:pPr>
            <a:r>
              <a:t>Punjab + Solar pumps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0976" y="2240280"/>
            <a:ext cx="0" cy="338328"/>
          </a:xfrm>
          <a:prstGeom prst="line">
            <a:avLst/>
          </a:prstGeom>
          <a:ln w="25400">
            <a:solidFill>
              <a:srgbClr val="DCE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49808" y="2743200"/>
            <a:ext cx="402336" cy="402336"/>
          </a:xfrm>
          <a:prstGeom prst="ellipse">
            <a:avLst/>
          </a:prstGeom>
          <a:solidFill>
            <a:srgbClr val="24573F"/>
          </a:solidFill>
          <a:ln>
            <a:solidFill>
              <a:srgbClr val="24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200">
                <a:solidFill>
                  <a:srgbClr val="FFFF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724912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 i="0">
                <a:solidFill>
                  <a:srgbClr val="1C2D22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724912"/>
            <a:ext cx="30632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 i="0">
                <a:solidFill>
                  <a:srgbClr val="66756B"/>
                </a:solidFill>
                <a:latin typeface="Aptos"/>
              </a:defRPr>
            </a:pPr>
            <a:r>
              <a:t>TinyFish Search returns candidates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0976" y="3154680"/>
            <a:ext cx="0" cy="338328"/>
          </a:xfrm>
          <a:prstGeom prst="line">
            <a:avLst/>
          </a:prstGeom>
          <a:ln w="25400">
            <a:solidFill>
              <a:srgbClr val="DCE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49808" y="3657600"/>
            <a:ext cx="402336" cy="402336"/>
          </a:xfrm>
          <a:prstGeom prst="ellipse">
            <a:avLst/>
          </a:prstGeom>
          <a:solidFill>
            <a:srgbClr val="24573F"/>
          </a:solidFill>
          <a:ln>
            <a:solidFill>
              <a:srgbClr val="24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200">
                <a:solidFill>
                  <a:srgbClr val="FFFF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639312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 i="0">
                <a:solidFill>
                  <a:srgbClr val="1C2D22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3639312"/>
            <a:ext cx="30632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 i="0">
                <a:solidFill>
                  <a:srgbClr val="66756B"/>
                </a:solidFill>
                <a:latin typeface="Aptos"/>
              </a:defRPr>
            </a:pPr>
            <a:r>
              <a:t>TinyFish Fetch retrieves page content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50976" y="4069080"/>
            <a:ext cx="0" cy="338328"/>
          </a:xfrm>
          <a:prstGeom prst="line">
            <a:avLst/>
          </a:prstGeom>
          <a:ln w="25400">
            <a:solidFill>
              <a:srgbClr val="DCE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49808" y="4572000"/>
            <a:ext cx="402336" cy="402336"/>
          </a:xfrm>
          <a:prstGeom prst="ellipse">
            <a:avLst/>
          </a:prstGeom>
          <a:solidFill>
            <a:srgbClr val="E9BF55"/>
          </a:solidFill>
          <a:ln>
            <a:solidFill>
              <a:srgbClr val="E9B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b="1" sz="1200">
                <a:solidFill>
                  <a:srgbClr val="1C2D22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553712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 i="0">
                <a:solidFill>
                  <a:srgbClr val="1C2D22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2032" y="4553712"/>
            <a:ext cx="30632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 i="0">
                <a:solidFill>
                  <a:srgbClr val="66756B"/>
                </a:solidFill>
                <a:latin typeface="Aptos"/>
              </a:defRPr>
            </a:pPr>
            <a:r>
              <a:t>Open the official link and compare the excerpt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737360"/>
            <a:ext cx="525780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2011680"/>
            <a:ext cx="45262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 i="0">
                <a:solidFill>
                  <a:srgbClr val="1C2D22"/>
                </a:solidFill>
                <a:latin typeface="Aptos Display"/>
              </a:defRPr>
            </a:pPr>
            <a:r>
              <a:t>Example of what to inspect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2468880"/>
            <a:ext cx="45262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 i="0">
                <a:solidFill>
                  <a:srgbClr val="B8653B"/>
                </a:solidFill>
                <a:latin typeface="Aptos"/>
              </a:defRPr>
            </a:pPr>
            <a:r>
              <a:t>Use actual live output in the recorded demo.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65392" y="2953512"/>
            <a:ext cx="4526280" cy="658368"/>
          </a:xfrm>
          <a:prstGeom prst="roundRect">
            <a:avLst/>
          </a:prstGeom>
          <a:solidFill>
            <a:srgbClr val="E8F0E5"/>
          </a:solidFill>
          <a:ln w="10160">
            <a:solidFill>
              <a:srgbClr val="E8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3063240"/>
            <a:ext cx="1417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1" i="0">
                <a:solidFill>
                  <a:srgbClr val="1C2D22"/>
                </a:solidFill>
                <a:latin typeface="Aptos"/>
              </a:defRPr>
            </a:pPr>
            <a:r>
              <a:t>Official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3044952"/>
            <a:ext cx="269748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0" i="0">
                <a:solidFill>
                  <a:srgbClr val="66756B"/>
                </a:solidFill>
                <a:latin typeface="Aptos"/>
              </a:defRPr>
            </a:pPr>
            <a:r>
              <a:t>Clickable government-domain URL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65392" y="3794760"/>
            <a:ext cx="4526280" cy="658368"/>
          </a:xfrm>
          <a:prstGeom prst="roundRect">
            <a:avLst/>
          </a:prstGeom>
          <a:solidFill>
            <a:srgbClr val="F6F7F1"/>
          </a:solidFill>
          <a:ln w="10160">
            <a:solidFill>
              <a:srgbClr val="F6F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904488"/>
            <a:ext cx="1417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1" i="0">
                <a:solidFill>
                  <a:srgbClr val="1C2D22"/>
                </a:solidFill>
                <a:latin typeface="Aptos"/>
              </a:defRPr>
            </a:pPr>
            <a:r>
              <a:t>Extracted sections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2" y="3886200"/>
            <a:ext cx="269748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0" i="0">
                <a:solidFill>
                  <a:srgbClr val="66756B"/>
                </a:solidFill>
                <a:latin typeface="Aptos"/>
              </a:defRPr>
            </a:pPr>
            <a:r>
              <a:t>Benefits, eligibility, documents, application and period — when present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65392" y="4636008"/>
            <a:ext cx="4526280" cy="658368"/>
          </a:xfrm>
          <a:prstGeom prst="roundRect">
            <a:avLst/>
          </a:prstGeom>
          <a:solidFill>
            <a:srgbClr val="FBF1D8"/>
          </a:solidFill>
          <a:ln w="10160">
            <a:solidFill>
              <a:srgbClr val="FBF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4745736"/>
            <a:ext cx="1417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1" i="0">
                <a:solidFill>
                  <a:srgbClr val="1C2D22"/>
                </a:solidFill>
                <a:latin typeface="Aptos"/>
              </a:defRPr>
            </a:pPr>
            <a:r>
              <a:t>Status cues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5592" y="4727448"/>
            <a:ext cx="269748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0" i="0">
                <a:solidFill>
                  <a:srgbClr val="66756B"/>
                </a:solidFill>
                <a:latin typeface="Aptos"/>
              </a:defRPr>
            </a:pPr>
            <a:r>
              <a:t>State mentioned? Date may be past? Page unreadable?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5577840"/>
            <a:ext cx="4526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 i="0">
                <a:solidFill>
                  <a:srgbClr val="B8653B"/>
                </a:solidFill>
                <a:latin typeface="Aptos"/>
              </a:defRPr>
            </a:pPr>
            <a:r>
              <a:t>Do not present a mock result as a live 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256032"/>
            <a:ext cx="246888" cy="246888"/>
          </a:xfrm>
          <a:prstGeom prst="ellipse">
            <a:avLst/>
          </a:prstGeom>
          <a:solidFill>
            <a:srgbClr val="24573F"/>
          </a:solidFill>
          <a:ln>
            <a:solidFill>
              <a:srgbClr val="24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24688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 i="0">
                <a:solidFill>
                  <a:srgbClr val="24573F"/>
                </a:solidFill>
                <a:latin typeface="Aptos"/>
              </a:defRPr>
            </a:pPr>
            <a:r>
              <a:t>KisanSaathi  •  किसान साथी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 i="0">
                <a:solidFill>
                  <a:srgbClr val="2F704E"/>
                </a:solidFill>
                <a:latin typeface="Aptos"/>
              </a:defRPr>
            </a:pPr>
            <a:r>
              <a:t>05 /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700" b="1" i="0">
                <a:solidFill>
                  <a:srgbClr val="1C2D22"/>
                </a:solidFill>
                <a:latin typeface="Aptos Display"/>
              </a:defRPr>
            </a:pPr>
            <a:r>
              <a:t>A simple, inspectable architecture supports the live feature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D8E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28816"/>
            <a:ext cx="4572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 i="0">
                <a:solidFill>
                  <a:srgbClr val="66756B"/>
                </a:solidFill>
                <a:latin typeface="Aptos"/>
              </a:defRPr>
            </a:pPr>
            <a:r>
              <a:t>AZINHACK '26  •  ONLINE 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66756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783080"/>
            <a:ext cx="5623560" cy="713232"/>
          </a:xfrm>
          <a:prstGeom prst="roundRect">
            <a:avLst/>
          </a:prstGeom>
          <a:solidFill>
            <a:srgbClr val="E8F0E5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874519"/>
            <a:ext cx="153619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 i="0">
                <a:solidFill>
                  <a:srgbClr val="24573F"/>
                </a:solidFill>
                <a:latin typeface="Aptos"/>
              </a:defRPr>
            </a:pPr>
            <a:r>
              <a:t>Browser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901952"/>
            <a:ext cx="340156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0" i="0">
                <a:solidFill>
                  <a:srgbClr val="66756B"/>
                </a:solidFill>
                <a:latin typeface="Aptos"/>
              </a:defRPr>
            </a:pPr>
            <a:r>
              <a:t>HTML • CSS • JavaScript • Hindi/English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39312" y="2514600"/>
            <a:ext cx="0" cy="201168"/>
          </a:xfrm>
          <a:prstGeom prst="line">
            <a:avLst/>
          </a:prstGeom>
          <a:ln w="17780">
            <a:solidFill>
              <a:srgbClr val="2F7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" y="2697480"/>
            <a:ext cx="56235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153619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 i="0">
                <a:solidFill>
                  <a:srgbClr val="24573F"/>
                </a:solidFill>
                <a:latin typeface="Aptos"/>
              </a:defRPr>
            </a:pPr>
            <a:r>
              <a:t>FastAPI endpoint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816352"/>
            <a:ext cx="340156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0" i="0">
                <a:solidFill>
                  <a:srgbClr val="66756B"/>
                </a:solidFill>
                <a:latin typeface="Aptos"/>
              </a:defRPr>
            </a:pPr>
            <a:r>
              <a:t>Pydantic validation • rate limit • safe error messages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39312" y="3429000"/>
            <a:ext cx="0" cy="201168"/>
          </a:xfrm>
          <a:prstGeom prst="line">
            <a:avLst/>
          </a:prstGeom>
          <a:ln w="17780">
            <a:solidFill>
              <a:srgbClr val="2F7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2960" y="3611880"/>
            <a:ext cx="5623560" cy="713232"/>
          </a:xfrm>
          <a:prstGeom prst="roundRect">
            <a:avLst/>
          </a:prstGeom>
          <a:solidFill>
            <a:srgbClr val="FBF1D8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703320"/>
            <a:ext cx="153619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 i="0">
                <a:solidFill>
                  <a:srgbClr val="1C2D22"/>
                </a:solidFill>
                <a:latin typeface="Aptos"/>
              </a:defRPr>
            </a:pPr>
            <a:r>
              <a:t>TinyFish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730752"/>
            <a:ext cx="340156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0" i="0">
                <a:solidFill>
                  <a:srgbClr val="66756B"/>
                </a:solidFill>
                <a:latin typeface="Aptos"/>
              </a:defRPr>
            </a:pPr>
            <a:r>
              <a:t>Search • domain filtering • Fetch • section extraction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39312" y="4343400"/>
            <a:ext cx="0" cy="201168"/>
          </a:xfrm>
          <a:prstGeom prst="line">
            <a:avLst/>
          </a:prstGeom>
          <a:ln w="17780">
            <a:solidFill>
              <a:srgbClr val="2F7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2960" y="4526280"/>
            <a:ext cx="56235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617720"/>
            <a:ext cx="153619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1" i="0">
                <a:solidFill>
                  <a:srgbClr val="24573F"/>
                </a:solidFill>
                <a:latin typeface="Aptos"/>
              </a:defRPr>
            </a:pPr>
            <a:r>
              <a:t>Data/services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645152"/>
            <a:ext cx="340156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0" i="0">
                <a:solidFill>
                  <a:srgbClr val="66756B"/>
                </a:solidFill>
                <a:latin typeface="Aptos"/>
              </a:defRPr>
            </a:pPr>
            <a:r>
              <a:t>SQLite • crop/price tools • weather and irrigation providers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1783080"/>
            <a:ext cx="4343400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993392"/>
            <a:ext cx="3794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 i="0">
                <a:solidFill>
                  <a:srgbClr val="1C2D22"/>
                </a:solidFill>
                <a:latin typeface="Aptos"/>
              </a:defRPr>
            </a:pPr>
            <a:r>
              <a:t>Server-side key handling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350008"/>
            <a:ext cx="37033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 i="0">
                <a:solidFill>
                  <a:srgbClr val="66756B"/>
                </a:solidFill>
                <a:latin typeface="Aptos"/>
              </a:defRPr>
            </a:pPr>
            <a:r>
              <a:t>The browser never receives the TinyFish API key.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5160" y="3154680"/>
            <a:ext cx="4343400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3374136"/>
            <a:ext cx="3794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 i="0">
                <a:solidFill>
                  <a:srgbClr val="1C2D22"/>
                </a:solidFill>
                <a:latin typeface="Aptos"/>
              </a:defRPr>
            </a:pPr>
            <a:r>
              <a:t>Guardrails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730752"/>
            <a:ext cx="37033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 i="0">
                <a:solidFill>
                  <a:srgbClr val="66756B"/>
                </a:solidFill>
                <a:latin typeface="Aptos"/>
              </a:defRPr>
            </a:pPr>
            <a:r>
              <a:t>Domain filtering, validation, timeouts, error redaction and partial-result warnings.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0" y="4526280"/>
            <a:ext cx="4343400" cy="1133856"/>
          </a:xfrm>
          <a:prstGeom prst="roundRect">
            <a:avLst/>
          </a:prstGeom>
          <a:solidFill>
            <a:srgbClr val="E8F0E5"/>
          </a:solidFill>
          <a:ln w="10160">
            <a:solidFill>
              <a:srgbClr val="E8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80" y="4745736"/>
            <a:ext cx="3794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 i="0">
                <a:solidFill>
                  <a:srgbClr val="24573F"/>
                </a:solidFill>
                <a:latin typeface="Aptos"/>
              </a:defRPr>
            </a:pPr>
            <a:r>
              <a:t>Automated checks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5102352"/>
            <a:ext cx="37033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 i="0">
                <a:solidFill>
                  <a:srgbClr val="1C2D22"/>
                </a:solidFill>
                <a:latin typeface="Aptos"/>
              </a:defRPr>
            </a:pPr>
            <a:r>
              <a:t>133 backend tests passed locally; API-provider paths are mocked where specified.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256032"/>
            <a:ext cx="246888" cy="246888"/>
          </a:xfrm>
          <a:prstGeom prst="ellipse">
            <a:avLst/>
          </a:prstGeom>
          <a:solidFill>
            <a:srgbClr val="24573F"/>
          </a:solidFill>
          <a:ln>
            <a:solidFill>
              <a:srgbClr val="24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24688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 i="0">
                <a:solidFill>
                  <a:srgbClr val="24573F"/>
                </a:solidFill>
                <a:latin typeface="Aptos"/>
              </a:defRPr>
            </a:pPr>
            <a:r>
              <a:t>KisanSaathi  •  किसान साथी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 i="0">
                <a:solidFill>
                  <a:srgbClr val="2F704E"/>
                </a:solidFill>
                <a:latin typeface="Aptos"/>
              </a:defRPr>
            </a:pPr>
            <a:r>
              <a:t>06 /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700" b="1" i="0">
                <a:solidFill>
                  <a:srgbClr val="1C2D22"/>
                </a:solidFill>
                <a:latin typeface="Aptos Display"/>
              </a:defRPr>
            </a:pPr>
            <a:r>
              <a:t>Useful information needs honest boundaries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D8E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28816"/>
            <a:ext cx="4572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 i="0">
                <a:solidFill>
                  <a:srgbClr val="66756B"/>
                </a:solidFill>
                <a:latin typeface="Aptos"/>
              </a:defRPr>
            </a:pPr>
            <a:r>
              <a:t>AZINHACK '26  •  ONLINE 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66756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3493008" cy="2212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64008" cy="2212848"/>
          </a:xfrm>
          <a:prstGeom prst="rect">
            <a:avLst/>
          </a:prstGeom>
          <a:solidFill>
            <a:srgbClr val="24573F"/>
          </a:solidFill>
          <a:ln w="10160">
            <a:solidFill>
              <a:srgbClr val="24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993392"/>
            <a:ext cx="31089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 i="0">
                <a:solidFill>
                  <a:srgbClr val="24573F"/>
                </a:solidFill>
                <a:latin typeface="Aptos"/>
              </a:defRPr>
            </a:pPr>
            <a:r>
              <a:t>VISIBLE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286000"/>
            <a:ext cx="309067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 i="0">
                <a:solidFill>
                  <a:srgbClr val="1C2D22"/>
                </a:solidFill>
                <a:latin typeface="Aptos Display"/>
              </a:defRPr>
            </a:pPr>
            <a:r>
              <a:t>Source links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724912"/>
            <a:ext cx="3090672" cy="12070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 i="0">
                <a:solidFill>
                  <a:srgbClr val="66756B"/>
                </a:solidFill>
                <a:latin typeface="Aptos"/>
              </a:defRPr>
            </a:pPr>
            <a:r>
              <a:t>Every extracted result keeps a link back to the government page.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828800"/>
            <a:ext cx="3493008" cy="2212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52544" y="1828800"/>
            <a:ext cx="64008" cy="2212848"/>
          </a:xfrm>
          <a:prstGeom prst="rect">
            <a:avLst/>
          </a:prstGeom>
          <a:solidFill>
            <a:srgbClr val="E9BF55"/>
          </a:solidFill>
          <a:ln w="10160">
            <a:solidFill>
              <a:srgbClr val="E9B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993392"/>
            <a:ext cx="31089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 i="0">
                <a:solidFill>
                  <a:srgbClr val="E9BF55"/>
                </a:solidFill>
                <a:latin typeface="Aptos"/>
              </a:defRPr>
            </a:pPr>
            <a:r>
              <a:t>VISIBLE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286000"/>
            <a:ext cx="309067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 i="0">
                <a:solidFill>
                  <a:srgbClr val="1C2D22"/>
                </a:solidFill>
                <a:latin typeface="Aptos Display"/>
              </a:defRPr>
            </a:pPr>
            <a:r>
              <a:t>Uncertainty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724912"/>
            <a:ext cx="3090672" cy="12070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 i="0">
                <a:solidFill>
                  <a:srgbClr val="66756B"/>
                </a:solidFill>
                <a:latin typeface="Aptos"/>
              </a:defRPr>
            </a:pPr>
            <a:r>
              <a:t>Unreadable details and possible past dates are labelled rather than silently filled 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828800"/>
            <a:ext cx="3493008" cy="2212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828800"/>
            <a:ext cx="64008" cy="2212848"/>
          </a:xfrm>
          <a:prstGeom prst="rect">
            <a:avLst/>
          </a:prstGeom>
          <a:solidFill>
            <a:srgbClr val="B8653B"/>
          </a:solidFill>
          <a:ln w="10160">
            <a:solidFill>
              <a:srgbClr val="B86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1993392"/>
            <a:ext cx="31089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 i="0">
                <a:solidFill>
                  <a:srgbClr val="B8653B"/>
                </a:solidFill>
                <a:latin typeface="Aptos"/>
              </a:defRPr>
            </a:pPr>
            <a:r>
              <a:t>VISIBLE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286000"/>
            <a:ext cx="309067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 i="0">
                <a:solidFill>
                  <a:srgbClr val="1C2D22"/>
                </a:solidFill>
                <a:latin typeface="Aptos Display"/>
              </a:defRPr>
            </a:pPr>
            <a:r>
              <a:t>No eligibility 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724912"/>
            <a:ext cx="3090672" cy="12070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 i="0">
                <a:solidFill>
                  <a:srgbClr val="66756B"/>
                </a:solidFill>
                <a:latin typeface="Aptos"/>
              </a:defRPr>
            </a:pPr>
            <a:r>
              <a:t>A state mention or extracted excerpt is not a guarantee of eligibility or active status.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498848"/>
            <a:ext cx="10881360" cy="1005840"/>
          </a:xfrm>
          <a:prstGeom prst="roundRect">
            <a:avLst/>
          </a:prstGeom>
          <a:solidFill>
            <a:srgbClr val="1C2D22"/>
          </a:solidFill>
          <a:ln w="10160">
            <a:solidFill>
              <a:srgbClr val="1C2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700016"/>
            <a:ext cx="10287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Design goal: help people find and inspect evidence—not turn incomplete web content into a false guarantee.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256032"/>
            <a:ext cx="246888" cy="246888"/>
          </a:xfrm>
          <a:prstGeom prst="ellipse">
            <a:avLst/>
          </a:prstGeom>
          <a:solidFill>
            <a:srgbClr val="24573F"/>
          </a:solidFill>
          <a:ln>
            <a:solidFill>
              <a:srgbClr val="24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24688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 i="0">
                <a:solidFill>
                  <a:srgbClr val="24573F"/>
                </a:solidFill>
                <a:latin typeface="Aptos"/>
              </a:defRPr>
            </a:pPr>
            <a:r>
              <a:t>KisanSaathi  •  किसान साथी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 i="0">
                <a:solidFill>
                  <a:srgbClr val="2F704E"/>
                </a:solidFill>
                <a:latin typeface="Aptos"/>
              </a:defRPr>
            </a:pPr>
            <a:r>
              <a:t>07 /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700" b="1" i="0">
                <a:solidFill>
                  <a:srgbClr val="1C2D22"/>
                </a:solidFill>
                <a:latin typeface="Aptos Display"/>
              </a:defRPr>
            </a:pPr>
            <a:r>
              <a:t>Impact is a hypothesis to validate—not a number to invent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D8E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28816"/>
            <a:ext cx="4572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 i="0">
                <a:solidFill>
                  <a:srgbClr val="66756B"/>
                </a:solidFill>
                <a:latin typeface="Aptos"/>
              </a:defRPr>
            </a:pPr>
            <a:r>
              <a:t>AZINHACK '26  •  ONLINE 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66756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19072"/>
            <a:ext cx="106984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500" b="0" i="0">
                <a:solidFill>
                  <a:srgbClr val="66756B"/>
                </a:solidFill>
                <a:latin typeface="Aptos"/>
              </a:defRPr>
            </a:pPr>
            <a:r>
              <a:t>The current prototype shows a plausible workflow. Field usefulness still needs direct user and source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31720"/>
            <a:ext cx="342900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331720"/>
            <a:ext cx="64008" cy="2240280"/>
          </a:xfrm>
          <a:prstGeom prst="rect">
            <a:avLst/>
          </a:prstGeom>
          <a:solidFill>
            <a:srgbClr val="24573F"/>
          </a:solidFill>
          <a:ln w="10160">
            <a:solidFill>
              <a:srgbClr val="24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496312"/>
            <a:ext cx="30449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 i="0">
                <a:solidFill>
                  <a:srgbClr val="24573F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788920"/>
            <a:ext cx="302666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 i="0">
                <a:solidFill>
                  <a:srgbClr val="1C2D22"/>
                </a:solidFill>
                <a:latin typeface="Aptos Display"/>
              </a:defRPr>
            </a:pPr>
            <a:r>
              <a:t>Demonstrate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227832"/>
            <a:ext cx="3026664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 i="0">
                <a:solidFill>
                  <a:srgbClr val="66756B"/>
                </a:solidFill>
                <a:latin typeface="Aptos"/>
              </a:defRPr>
            </a:pPr>
            <a:r>
              <a:t>Run a live TinyFish search, inspect the source page, and show graceful handling of missing fields.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2331720"/>
            <a:ext cx="342900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2331720"/>
            <a:ext cx="64008" cy="2240280"/>
          </a:xfrm>
          <a:prstGeom prst="rect">
            <a:avLst/>
          </a:prstGeom>
          <a:solidFill>
            <a:srgbClr val="E9BF55"/>
          </a:solidFill>
          <a:ln w="10160">
            <a:solidFill>
              <a:srgbClr val="E9B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496312"/>
            <a:ext cx="30449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 i="0">
                <a:solidFill>
                  <a:srgbClr val="E9BF55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88920"/>
            <a:ext cx="302666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 i="0">
                <a:solidFill>
                  <a:srgbClr val="1C2D22"/>
                </a:solidFill>
                <a:latin typeface="Aptos Display"/>
              </a:defRPr>
            </a:pPr>
            <a:r>
              <a:t>Validate with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27832"/>
            <a:ext cx="3026664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 i="0">
                <a:solidFill>
                  <a:srgbClr val="66756B"/>
                </a:solidFill>
                <a:latin typeface="Aptos"/>
              </a:defRPr>
            </a:pPr>
            <a:r>
              <a:t>Ask farmers / extension staff to review language, relevance and whether the discovered page answers their task.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2331720"/>
            <a:ext cx="342900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331720"/>
            <a:ext cx="64008" cy="2240280"/>
          </a:xfrm>
          <a:prstGeom prst="rect">
            <a:avLst/>
          </a:prstGeom>
          <a:solidFill>
            <a:srgbClr val="B8653B"/>
          </a:solidFill>
          <a:ln w="10160">
            <a:solidFill>
              <a:srgbClr val="B86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4" y="2496312"/>
            <a:ext cx="304495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900" b="1" i="0">
                <a:solidFill>
                  <a:srgbClr val="B8653B"/>
                </a:solidFill>
                <a:latin typeface="Aptos"/>
              </a:defRPr>
            </a:pPr>
            <a:r>
              <a:t>LATER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2788920"/>
            <a:ext cx="302666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600" b="1" i="0">
                <a:solidFill>
                  <a:srgbClr val="1C2D22"/>
                </a:solidFill>
                <a:latin typeface="Aptos Display"/>
              </a:defRPr>
            </a:pPr>
            <a:r>
              <a:t>Measure outcomes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3227832"/>
            <a:ext cx="3026664" cy="12344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200" b="0" i="0">
                <a:solidFill>
                  <a:srgbClr val="66756B"/>
                </a:solidFill>
                <a:latin typeface="Aptos"/>
              </a:defRPr>
            </a:pPr>
            <a:r>
              <a:t>Track task completion, source correctness, stale-result rate and time to locate a relevant official page.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37760"/>
            <a:ext cx="10853928" cy="694944"/>
          </a:xfrm>
          <a:prstGeom prst="roundRect">
            <a:avLst/>
          </a:prstGeom>
          <a:solidFill>
            <a:srgbClr val="E8F0E5"/>
          </a:solidFill>
          <a:ln w="10160">
            <a:solidFill>
              <a:srgbClr val="E8F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29784"/>
            <a:ext cx="10332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1" i="0">
                <a:solidFill>
                  <a:srgbClr val="24573F"/>
                </a:solidFill>
                <a:latin typeface="Aptos"/>
              </a:defRPr>
            </a:pPr>
            <a:r>
              <a:t>No adoption, savings or accuracy statistics are claimed without measurement.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5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" y="256032"/>
            <a:ext cx="246888" cy="246888"/>
          </a:xfrm>
          <a:prstGeom prst="ellipse">
            <a:avLst/>
          </a:prstGeom>
          <a:solidFill>
            <a:srgbClr val="24573F"/>
          </a:solidFill>
          <a:ln>
            <a:solidFill>
              <a:srgbClr val="245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37744"/>
            <a:ext cx="24688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 i="0">
                <a:solidFill>
                  <a:srgbClr val="24573F"/>
                </a:solidFill>
                <a:latin typeface="Aptos"/>
              </a:defRPr>
            </a:pPr>
            <a:r>
              <a:rPr>
                <a:solidFill>
                  <a:srgbClr val="E6F0E5"/>
                </a:solidFill>
              </a:rPr>
              <a:t>KisanSaathi  •  किसान साथी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000" b="1" i="0">
                <a:solidFill>
                  <a:srgbClr val="2F704E"/>
                </a:solidFill>
                <a:latin typeface="Aptos"/>
              </a:defRPr>
            </a:pPr>
            <a:r>
              <a:rPr>
                <a:solidFill>
                  <a:srgbClr val="F4D88D"/>
                </a:solidFill>
              </a:rPr>
              <a:t>08 /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78408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700" b="1" i="0">
                <a:solidFill>
                  <a:srgbClr val="1C2D22"/>
                </a:solidFill>
                <a:latin typeface="Aptos Display"/>
              </a:defRPr>
            </a:pPr>
            <a:r>
              <a:rPr>
                <a:solidFill>
                  <a:srgbClr val="FFFFFF"/>
                </a:solidFill>
              </a:rPr>
              <a:t>Official information, easier to reach and verify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 w="10160">
            <a:solidFill>
              <a:srgbClr val="D8E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28816"/>
            <a:ext cx="4572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800" b="1" i="0">
                <a:solidFill>
                  <a:srgbClr val="66756B"/>
                </a:solidFill>
                <a:latin typeface="Aptos"/>
              </a:defRPr>
            </a:pPr>
            <a:r>
              <a:rPr>
                <a:solidFill>
                  <a:srgbClr val="E6F0E5"/>
                </a:solidFill>
              </a:rPr>
              <a:t>AZINHACK '26  •  ONLINE 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1" i="0">
                <a:solidFill>
                  <a:srgbClr val="66756B"/>
                </a:solidFill>
                <a:latin typeface="Aptos"/>
              </a:defRPr>
            </a:pPr>
            <a:r>
              <a:rPr>
                <a:solidFill>
                  <a:srgbClr val="E6F0E5"/>
                </a:solidFill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65960"/>
            <a:ext cx="640080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3500" b="1" i="0">
                <a:solidFill>
                  <a:srgbClr val="FFFFFF"/>
                </a:solidFill>
                <a:latin typeface="Aptos Display"/>
              </a:defRPr>
            </a:pPr>
            <a:r>
              <a:t>Find. Read. Verify.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90672"/>
            <a:ext cx="59436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800" b="0" i="0">
                <a:solidFill>
                  <a:srgbClr val="E6F0E5"/>
                </a:solidFill>
                <a:latin typeface="Aptos"/>
              </a:defRPr>
            </a:pPr>
            <a:r>
              <a:t>A bilingual farmer-assistance prototype with a real TinyFish Search + Fetch implementation path.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920240"/>
            <a:ext cx="3566160" cy="2697480"/>
          </a:xfrm>
          <a:prstGeom prst="roundRect">
            <a:avLst/>
          </a:prstGeom>
          <a:solidFill>
            <a:srgbClr val="2F704E"/>
          </a:solidFill>
          <a:ln w="10160">
            <a:solidFill>
              <a:srgbClr val="2F7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5552" y="2240280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1" i="0">
                <a:solidFill>
                  <a:srgbClr val="F4D88D"/>
                </a:solidFill>
                <a:latin typeface="Aptos"/>
              </a:defRPr>
            </a:pPr>
            <a:r>
              <a:t>Evaluation proof to show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2697480"/>
            <a:ext cx="2852928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300" b="0" i="0">
                <a:solidFill>
                  <a:srgbClr val="FFFFFF"/>
                </a:solidFill>
                <a:latin typeface="Aptos"/>
              </a:defRPr>
            </a:pPr>
            <a:r>
              <a:t>• Public repository</a:t>
            </a:r>
            <a:br/>
            <a:r>
              <a:t>• Live TinyFish demo</a:t>
            </a:r>
            <a:br/>
            <a:r>
              <a:t>• Source link + retrieval time</a:t>
            </a:r>
            <a:br/>
            <a:r>
              <a:t>• 2–3 minute walkthrough</a:t>
            </a:r>
            <a:br/>
            <a:r>
              <a:t>• Public social 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029200"/>
            <a:ext cx="96012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2200" b="1" i="0">
                <a:solidFill>
                  <a:srgbClr val="F4D88D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5596128"/>
            <a:ext cx="9875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100" b="0" i="0">
                <a:solidFill>
                  <a:srgbClr val="E6F0E5"/>
                </a:solidFill>
                <a:latin typeface="Aptos"/>
              </a:defRPr>
            </a:pPr>
            <a:r>
              <a:t>Confirm project-origin eligibility and add genuine team credits before publishing.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KisanSaathi | AZINHACK ’26 Online Round</dc:title>
  <dc:subject>Hackathon project pitch and TinyFish integration walkthrough</dc:subject>
  <dc:creator>KisanSaathi team</dc:creator>
  <cp:keywords>KisanSaathi, AZINHACK, TinyFish, agriculture, farmer support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